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88" r:id="rId5"/>
    <p:sldId id="257" r:id="rId6"/>
    <p:sldId id="259" r:id="rId7"/>
    <p:sldId id="289" r:id="rId8"/>
    <p:sldId id="258" r:id="rId9"/>
    <p:sldId id="294" r:id="rId10"/>
    <p:sldId id="295" r:id="rId11"/>
    <p:sldId id="261" r:id="rId12"/>
    <p:sldId id="262" r:id="rId13"/>
    <p:sldId id="270" r:id="rId14"/>
    <p:sldId id="296" r:id="rId15"/>
    <p:sldId id="297" r:id="rId16"/>
    <p:sldId id="266" r:id="rId17"/>
    <p:sldId id="298" r:id="rId18"/>
    <p:sldId id="268" r:id="rId19"/>
    <p:sldId id="269" r:id="rId20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9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4660"/>
  </p:normalViewPr>
  <p:slideViewPr>
    <p:cSldViewPr showGuides="1">
      <p:cViewPr>
        <p:scale>
          <a:sx n="33" d="100"/>
          <a:sy n="33" d="100"/>
        </p:scale>
        <p:origin x="352" y="676"/>
      </p:cViewPr>
      <p:guideLst>
        <p:guide orient="horz" pos="289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8DE01-FB84-45E0-9A3A-7FB8CA89789C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D7BB2-7884-4DDD-AE82-91C77FBB8BE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D7BB2-7884-4DDD-AE82-91C77FBB8BE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23056" y="492108"/>
            <a:ext cx="12272644" cy="1089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150" y="57140"/>
            <a:ext cx="1228521" cy="146443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649950" y="57140"/>
            <a:ext cx="1368438" cy="14549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6500" y="-61333"/>
            <a:ext cx="13225780" cy="1953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16399" y="2658640"/>
            <a:ext cx="16565880" cy="6929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965125" y="10830750"/>
            <a:ext cx="189865" cy="227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symbol&#10;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3825" y="0"/>
            <a:ext cx="1647545" cy="1807202"/>
          </a:xfrm>
          <a:prstGeom prst="rect">
            <a:avLst/>
          </a:prstGeom>
        </p:spPr>
      </p:pic>
      <p:pic>
        <p:nvPicPr>
          <p:cNvPr id="3" name="object 3" descr="this is our college prestiage. our self resp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97525" y="199993"/>
            <a:ext cx="1358970" cy="138826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749655" y="7988300"/>
            <a:ext cx="5459095" cy="1567815"/>
          </a:xfrm>
          <a:prstGeom prst="rect">
            <a:avLst/>
          </a:prstGeom>
        </p:spPr>
        <p:txBody>
          <a:bodyPr vert="horz" wrap="square" lIns="0" tIns="1587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b="1" spc="-10" dirty="0">
                <a:latin typeface="Times New Roman" panose="02020603050405020304"/>
                <a:cs typeface="Times New Roman" panose="02020603050405020304"/>
              </a:rPr>
              <a:t>Supervisor</a:t>
            </a:r>
            <a:r>
              <a:rPr lang="en-US" sz="3650" b="1" spc="-10" dirty="0">
                <a:latin typeface="Times New Roman" panose="02020603050405020304"/>
                <a:cs typeface="Times New Roman" panose="02020603050405020304"/>
              </a:rPr>
              <a:t>:</a:t>
            </a:r>
            <a:endParaRPr lang="en-US" sz="3650" b="1" spc="-1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US" sz="3650" b="1" spc="-10" dirty="0">
              <a:latin typeface="Times New Roman" panose="02020603050405020304"/>
              <a:cs typeface="Times New Roman" panose="02020603050405020304"/>
            </a:endParaRPr>
          </a:p>
          <a:p>
            <a:pPr marL="12700" algn="l">
              <a:lnSpc>
                <a:spcPct val="100000"/>
              </a:lnSpc>
              <a:spcBef>
                <a:spcPts val="125"/>
              </a:spcBef>
            </a:pPr>
            <a:r>
              <a:rPr lang="en-IN" altLang="en-US" sz="2800" b="1" dirty="0">
                <a:latin typeface="Times New Roman" panose="02020603050405020304"/>
                <a:cs typeface="Times New Roman" panose="02020603050405020304"/>
              </a:rPr>
              <a:t>Dr.G.A.Senthil</a:t>
            </a:r>
            <a:endParaRPr lang="en-IN" altLang="en-US" sz="2800" b="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7597" y="7254875"/>
            <a:ext cx="6613099" cy="2637260"/>
          </a:xfrm>
          <a:prstGeom prst="rect">
            <a:avLst/>
          </a:prstGeom>
        </p:spPr>
        <p:txBody>
          <a:bodyPr vert="horz" wrap="square" lIns="0" tIns="325755" rIns="0" bIns="0" rtlCol="0">
            <a:spAutoFit/>
          </a:bodyPr>
          <a:lstStyle/>
          <a:p>
            <a:pPr marR="297180" algn="l">
              <a:spcBef>
                <a:spcPts val="2565"/>
              </a:spcBef>
              <a:tabLst>
                <a:tab pos="485775" algn="l"/>
              </a:tabLst>
            </a:pPr>
            <a:r>
              <a:rPr lang="en-IN" sz="3600" b="1" spc="-25" dirty="0"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lang="en-IN" sz="3600" b="1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z="3600" b="1" spc="-25" dirty="0">
                <a:latin typeface="Times New Roman" panose="02020603050405020304"/>
                <a:cs typeface="Times New Roman" panose="02020603050405020304"/>
              </a:rPr>
              <a:t>By:</a:t>
            </a:r>
            <a:endParaRPr lang="en-IN" sz="3600" b="1" spc="-25" dirty="0">
              <a:latin typeface="Times New Roman" panose="02020603050405020304"/>
              <a:cs typeface="Times New Roman" panose="02020603050405020304"/>
            </a:endParaRPr>
          </a:p>
          <a:p>
            <a:pPr marR="297180" algn="l">
              <a:spcBef>
                <a:spcPts val="2565"/>
              </a:spcBef>
              <a:tabLst>
                <a:tab pos="485775" algn="l"/>
              </a:tabLst>
            </a:pPr>
            <a:r>
              <a:rPr lang="en-IN" sz="2800" b="1" spc="-25" dirty="0">
                <a:latin typeface="Times New Roman" panose="02020603050405020304"/>
                <a:cs typeface="Times New Roman" panose="02020603050405020304"/>
              </a:rPr>
              <a:t>S.</a:t>
            </a:r>
            <a:r>
              <a:rPr lang="en-GB"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800" b="1" dirty="0">
                <a:latin typeface="Times New Roman" panose="02020603050405020304"/>
                <a:cs typeface="Times New Roman" panose="02020603050405020304"/>
              </a:rPr>
              <a:t>Krishna Chaithanya (192424287)</a:t>
            </a:r>
            <a:endParaRPr lang="en-GB" sz="2800" b="1" dirty="0">
              <a:latin typeface="Times New Roman" panose="02020603050405020304"/>
              <a:cs typeface="Times New Roman" panose="02020603050405020304"/>
            </a:endParaRPr>
          </a:p>
          <a:p>
            <a:pPr marL="12700" marR="5080" algn="l">
              <a:spcBef>
                <a:spcPts val="455"/>
              </a:spcBef>
            </a:pPr>
            <a:r>
              <a:rPr lang="en-GB" sz="2800" b="1" dirty="0" err="1">
                <a:latin typeface="Times New Roman" panose="02020603050405020304"/>
                <a:cs typeface="Times New Roman" panose="02020603050405020304"/>
              </a:rPr>
              <a:t>G.Gopichand</a:t>
            </a:r>
            <a:r>
              <a:rPr lang="en-GB" sz="2800" b="1" dirty="0">
                <a:latin typeface="Times New Roman" panose="02020603050405020304"/>
                <a:cs typeface="Times New Roman" panose="02020603050405020304"/>
              </a:rPr>
              <a:t>(192424384)</a:t>
            </a:r>
            <a:endParaRPr lang="en-GB" sz="2800" b="1" dirty="0">
              <a:latin typeface="Times New Roman" panose="02020603050405020304"/>
              <a:cs typeface="Times New Roman" panose="02020603050405020304"/>
            </a:endParaRPr>
          </a:p>
          <a:p>
            <a:pPr marL="12700" marR="5080" algn="l">
              <a:spcBef>
                <a:spcPts val="455"/>
              </a:spcBef>
            </a:pPr>
            <a:r>
              <a:rPr lang="en-GB" sz="2800" b="1" dirty="0" err="1">
                <a:latin typeface="Times New Roman" panose="02020603050405020304"/>
                <a:cs typeface="Times New Roman" panose="02020603050405020304"/>
              </a:rPr>
              <a:t>BhuvanKumar</a:t>
            </a:r>
            <a:r>
              <a:rPr lang="en-GB" sz="2800" b="1" dirty="0">
                <a:latin typeface="Times New Roman" panose="02020603050405020304"/>
                <a:cs typeface="Times New Roman" panose="02020603050405020304"/>
              </a:rPr>
              <a:t> j(192524040)</a:t>
            </a:r>
            <a:endParaRPr lang="en-GB"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15" name="Google Shape;95;g36bc379c7b1_0_551"/>
          <p:cNvSpPr txBox="1"/>
          <p:nvPr/>
        </p:nvSpPr>
        <p:spPr>
          <a:xfrm>
            <a:off x="2355850" y="1000441"/>
            <a:ext cx="14935200" cy="161352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lnSpc>
                <a:spcPct val="80000"/>
              </a:lnSpc>
              <a:buClr>
                <a:srgbClr val="EB220C"/>
              </a:buClr>
              <a:buSzPts val="6032"/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SIMATS ENGINEERING</a:t>
            </a:r>
            <a:b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Saveetha Institute of Medical and Technical Sciences</a:t>
            </a:r>
            <a:b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Chennai-602105.</a:t>
            </a:r>
            <a:endParaRPr lang="en-US" sz="3600" b="1" dirty="0">
              <a:solidFill>
                <a:schemeClr val="tx1"/>
              </a:solidFill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6" name="Google Shape;91;g36bc379c7b1_0_551"/>
          <p:cNvSpPr txBox="1">
            <a:spLocks noGrp="1"/>
          </p:cNvSpPr>
          <p:nvPr>
            <p:ph type="title"/>
          </p:nvPr>
        </p:nvSpPr>
        <p:spPr>
          <a:xfrm>
            <a:off x="1982857" y="3673475"/>
            <a:ext cx="16154400" cy="2712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vert="horz" wrap="square" lIns="25400" tIns="25400" rIns="25400" bIns="25400" rtlCol="0" anchor="ctr" anchorCtr="0">
            <a:noAutofit/>
          </a:bodyPr>
          <a:lstStyle/>
          <a:p>
            <a:pPr lvl="0" algn="ctr">
              <a:lnSpc>
                <a:spcPct val="100000"/>
              </a:lnSpc>
              <a:buClr>
                <a:schemeClr val="accent1"/>
              </a:buClr>
            </a:pP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DSA0204 –Computer Vision With OpenCV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SmartLivestock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AI: Automated Animal Disease Detection and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Using Vision Transformers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250" y="1311275"/>
            <a:ext cx="13225780" cy="1069524"/>
          </a:xfrm>
        </p:spPr>
        <p:txBody>
          <a:bodyPr/>
          <a:lstStyle/>
          <a:p>
            <a:pPr algn="ctr"/>
            <a:r>
              <a:rPr lang="en-IN" u="sng" dirty="0"/>
              <a:t>ABSTRACT</a:t>
            </a:r>
            <a:endParaRPr lang="en-IN" u="sn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9050" y="3368675"/>
            <a:ext cx="16459200" cy="664781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 err="1"/>
              <a:t>SmartLivestock</a:t>
            </a:r>
            <a:r>
              <a:rPr lang="en-IN" sz="3600" dirty="0"/>
              <a:t> AI is a system that helps farmers check the health and behaviour of their animals using AI. </a:t>
            </a:r>
            <a:endParaRPr lang="en-IN" sz="36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/>
              <a:t>It uses Vision Transformers (</a:t>
            </a:r>
            <a:r>
              <a:rPr lang="en-IN" sz="3600" dirty="0" err="1"/>
              <a:t>ViT</a:t>
            </a:r>
            <a:r>
              <a:rPr lang="en-IN" sz="3600" dirty="0"/>
              <a:t>) to detect diseases and identify unusual animal behaviour from images and videos. </a:t>
            </a:r>
            <a:endParaRPr lang="en-IN" sz="36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/>
              <a:t>The system can find health problems early and alert the farmer quickly. </a:t>
            </a:r>
            <a:endParaRPr lang="en-IN" sz="36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/>
              <a:t>Early detection helps farmers treat animals on time, reducing losses and improving animal health. </a:t>
            </a:r>
            <a:endParaRPr lang="en-IN" sz="36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/>
              <a:t>This project makes livestock farming easier, smarter, and more efficient.</a:t>
            </a:r>
            <a:endParaRPr lang="en-IN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7250" y="473075"/>
            <a:ext cx="13225780" cy="1353853"/>
          </a:xfrm>
          <a:prstGeom prst="rect">
            <a:avLst/>
          </a:prstGeom>
        </p:spPr>
        <p:txBody>
          <a:bodyPr vert="horz" wrap="square" lIns="0" tIns="281580" rIns="0" bIns="0" rtlCol="0">
            <a:spAutoFit/>
          </a:bodyPr>
          <a:lstStyle/>
          <a:p>
            <a:pPr marL="4334510">
              <a:lnSpc>
                <a:spcPct val="100000"/>
              </a:lnSpc>
              <a:spcBef>
                <a:spcPts val="125"/>
              </a:spcBef>
            </a:pPr>
            <a:r>
              <a:rPr lang="en-US" u="sng" spc="-10" dirty="0"/>
              <a:t>INTRODUCTION</a:t>
            </a:r>
            <a:endParaRPr lang="en-US" u="sng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822450" y="2987675"/>
            <a:ext cx="17080245" cy="670433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Livestock farming is important for producing milk, meat, and other animal products. Farmers find it difficult to watch every animal all the time.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Sometimes, diseases and unusual behaviour are not noticed early, which can cause health problems and financial losses.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SmartLivestock</a:t>
            </a:r>
            <a:r>
              <a:rPr lang="en-IN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r>
              <a:rPr lang="en-IN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AI-based system that helps farmers monitor their animals automatically. </a:t>
            </a:r>
            <a:endParaRPr lang="en-IN" sz="3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Vision Transformers (</a:t>
            </a:r>
            <a:r>
              <a:rPr lang="en-IN" sz="3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IN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animal images and videos.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can detect diseases and identify unusual behaviours such as less movement, poor eating, or abnormal posture.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improve animal health, reduce losses, and increase farm productivity.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3050" y="1006475"/>
            <a:ext cx="13225780" cy="1563236"/>
          </a:xfrm>
          <a:prstGeom prst="rect">
            <a:avLst/>
          </a:prstGeom>
        </p:spPr>
        <p:txBody>
          <a:bodyPr vert="horz" wrap="square" lIns="0" tIns="488938" rIns="0" bIns="0" rtlCol="0">
            <a:spAutoFit/>
          </a:bodyPr>
          <a:lstStyle/>
          <a:p>
            <a:pPr marL="4421505">
              <a:lnSpc>
                <a:spcPct val="100000"/>
              </a:lnSpc>
              <a:spcBef>
                <a:spcPts val="125"/>
              </a:spcBef>
            </a:pPr>
            <a:r>
              <a:rPr lang="en-IN" u="sng" spc="-10" dirty="0"/>
              <a:t>OBJECTIVES</a:t>
            </a:r>
            <a:endParaRPr lang="en-IN" u="sng"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9" name="TextBox 8"/>
          <p:cNvSpPr txBox="1"/>
          <p:nvPr/>
        </p:nvSpPr>
        <p:spPr>
          <a:xfrm>
            <a:off x="2127251" y="3521075"/>
            <a:ext cx="16840200" cy="6640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AN"/>
              </a:rPr>
              <a:t>To detect animal diseases at an early stage using AI. </a:t>
            </a:r>
            <a:endParaRPr lang="en-IN" sz="3600" dirty="0">
              <a:latin typeface="TIMES NEW ROAN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 TIMES NEW ROAN"/>
              </a:rPr>
              <a:t>To monitor animal behaviour using images and videos.</a:t>
            </a:r>
            <a:endParaRPr lang="en-IN" sz="3600" dirty="0">
              <a:latin typeface=" TIMES NEW ROAN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 TIMES NEW ROAN"/>
              </a:rPr>
              <a:t> To identify unusual behaviours such as less movement, poor eating, or abnormal posture. </a:t>
            </a:r>
            <a:endParaRPr lang="en-IN" sz="3600" dirty="0">
              <a:latin typeface=" TIMES NEW ROAN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 TIMES NEW ROAN"/>
              </a:rPr>
              <a:t>To provide early alerts to farmers when a health problem is detected. </a:t>
            </a:r>
            <a:endParaRPr lang="en-IN" sz="3600" dirty="0">
              <a:latin typeface=" TIMES NEW ROAN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 TIMES NEW ROAN"/>
              </a:rPr>
              <a:t>To improve the health and well-being of livestock. </a:t>
            </a:r>
            <a:endParaRPr lang="en-IN" sz="3600" dirty="0">
              <a:latin typeface=" TIMES NEW ROAN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 TIMES NEW ROAN"/>
              </a:rPr>
              <a:t>To reduce animal deaths and treatment costs. </a:t>
            </a:r>
            <a:endParaRPr lang="en-IN" sz="3600" dirty="0">
              <a:latin typeface=" TIMES NEW ROAN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 TIMES NEW ROAN"/>
              </a:rPr>
              <a:t>To increase farm productivity and efficiency</a:t>
            </a:r>
            <a:r>
              <a:rPr lang="en-IN" sz="3300" dirty="0">
                <a:latin typeface=" TIMES NEW ROAN"/>
              </a:rPr>
              <a:t>.</a:t>
            </a:r>
            <a:r>
              <a:rPr lang="en-IN" sz="3300" dirty="0">
                <a:latin typeface=" TIMES NEW ROAN"/>
                <a:cs typeface="Times" panose="02020603050405020304" pitchFamily="18" charset="0"/>
              </a:rPr>
              <a:t>.</a:t>
            </a:r>
            <a:endParaRPr lang="en-US" sz="3300" dirty="0">
              <a:latin typeface=" TIMES NEW ROAN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620" y="244737"/>
            <a:ext cx="13225780" cy="1069340"/>
          </a:xfrm>
        </p:spPr>
        <p:txBody>
          <a:bodyPr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LITERATURE SURVEY</a:t>
            </a:r>
            <a:endParaRPr lang="en-GB" altLang="en-US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1212850" y="1618615"/>
          <a:ext cx="17456150" cy="936879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5535"/>
                <a:gridCol w="2959100"/>
                <a:gridCol w="3249295"/>
                <a:gridCol w="3029585"/>
                <a:gridCol w="3254375"/>
                <a:gridCol w="2588260"/>
              </a:tblGrid>
              <a:tr h="700405">
                <a:tc>
                  <a:txBody>
                    <a:bodyPr/>
                    <a:p>
                      <a:pPr algn="ctr"/>
                      <a:r>
                        <a:rPr lang="en-US" altLang="zh-C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altLang="zh-CN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altLang="zh-CN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US" altLang="zh-CN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Technology</a:t>
                      </a:r>
                      <a:endParaRPr lang="en-US" altLang="zh-CN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US" altLang="zh-CN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altLang="zh-CN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1520190">
                <a:tc>
                  <a:txBody>
                    <a:bodyPr/>
                    <a:p>
                      <a:pPr algn="ctr"/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Islam et al.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RGB camera, ultrasonic sensor and deep learning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Automatically detected and analysed the drinking behaviour of beef cattle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only on drinking behaviour and required an additional sensor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1899285">
                <a:tc>
                  <a:txBody>
                    <a:bodyPr/>
                    <a:p>
                      <a:pPr algn="ctr"/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Saqib et al.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and transfer learning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Detected lumpy skin disease in cattle images with approximately 95% accuracy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limited to healthy and infected binary classification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1899920">
                <a:tc>
                  <a:txBody>
                    <a:bodyPr/>
                    <a:p>
                      <a:pPr algn="ctr"/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Qazi et al.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AnimalFormer with GroundingDINO, HQSAM and ViTPose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Recognised sheep behaviours such as grazing, walking, running, standing and sitting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expensive for low-cost farm devices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1520190">
                <a:tc>
                  <a:txBody>
                    <a:bodyPr/>
                    <a:p>
                      <a:pPr algn="ctr"/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Zong et al.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Multi-scale deep-learning model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dairy-cow behaviour recognition at different distances and object sizes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can decrease because of occlusion, crowding and poor lighting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1519555">
                <a:tc>
                  <a:txBody>
                    <a:bodyPr/>
                    <a:p>
                      <a:pPr algn="ctr"/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Ullah et al.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 Transformer with a mobile application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Supported early and accurate detection of lumpy skin disease in cattle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a single disease without continuous behaviour monitoring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8650" y="854075"/>
            <a:ext cx="13258800" cy="1821857"/>
          </a:xfrm>
          <a:prstGeom prst="rect">
            <a:avLst/>
          </a:prstGeom>
        </p:spPr>
        <p:txBody>
          <a:bodyPr vert="horz" wrap="square" lIns="0" tIns="745057" rIns="0" bIns="0" rtlCol="0">
            <a:spAutoFit/>
          </a:bodyPr>
          <a:lstStyle/>
          <a:p>
            <a:pPr marL="2538730" algn="ctr">
              <a:lnSpc>
                <a:spcPct val="100000"/>
              </a:lnSpc>
              <a:spcBef>
                <a:spcPts val="125"/>
              </a:spcBef>
            </a:pPr>
            <a:r>
              <a:rPr lang="en-IN" u="sng" dirty="0"/>
              <a:t>PROBLEM</a:t>
            </a:r>
            <a:r>
              <a:rPr lang="en-IN" u="sng" spc="-130" dirty="0"/>
              <a:t> </a:t>
            </a:r>
            <a:r>
              <a:rPr lang="en-IN" u="sng" spc="-10" dirty="0"/>
              <a:t>STATEMENT</a:t>
            </a:r>
            <a:endParaRPr lang="en-IN" u="sng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584450" y="3444875"/>
            <a:ext cx="17833373" cy="57347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cannot continuously monitor every animal, especially on large farms.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observation is time-consuming and may lead to human errors.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Diseases are often detected only after they become serious.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Unusual animal behaviour is difficult to identify at an early stage.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Late detection increases treatment costs and reduces productivity.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need an automated system for continuous monitoring.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help detect diseases and abnormal behaviour quickly.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6500" y="397137"/>
            <a:ext cx="13225780" cy="1069340"/>
          </a:xfrm>
        </p:spPr>
        <p:txBody>
          <a:bodyPr/>
          <a:p>
            <a:pPr algn="ctr"/>
            <a:r>
              <a:rPr lang="en-IN" altLang="en-GB"/>
              <a:t>System Archeiture</a:t>
            </a:r>
            <a:endParaRPr lang="en-IN" altLang="en-GB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3450" y="1669415"/>
            <a:ext cx="15735300" cy="89071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5220" y="320937"/>
            <a:ext cx="13225780" cy="1069340"/>
          </a:xfrm>
        </p:spPr>
        <p:txBody>
          <a:bodyPr/>
          <a:p>
            <a:pPr algn="ctr"/>
            <a:r>
              <a:rPr lang="en-IN" altLang="en-GB"/>
              <a:t>List Of Modules</a:t>
            </a:r>
            <a:endParaRPr lang="en-IN" alt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0" y="2911475"/>
            <a:ext cx="12239625" cy="1209040"/>
          </a:xfrm>
        </p:spPr>
        <p:txBody>
          <a:bodyPr>
            <a:noAutofit/>
          </a:bodyPr>
          <a:p>
            <a:pPr algn="ctr"/>
            <a:r>
              <a:rPr lang="en-IN" sz="5400" b="1" dirty="0">
                <a:sym typeface="+mn-ea"/>
              </a:rPr>
              <a:t>Module</a:t>
            </a:r>
            <a:r>
              <a:rPr lang="en-IN" sz="5400" b="1" spc="-185" dirty="0">
                <a:sym typeface="+mn-ea"/>
              </a:rPr>
              <a:t> </a:t>
            </a:r>
            <a:r>
              <a:rPr lang="en-IN" sz="5400" b="1" dirty="0">
                <a:sym typeface="+mn-ea"/>
              </a:rPr>
              <a:t>1:  Animal Disease Detection</a:t>
            </a:r>
            <a:endParaRPr lang="en-IN" sz="5400" b="1" dirty="0"/>
          </a:p>
          <a:p>
            <a:pPr algn="ctr"/>
            <a:endParaRPr lang="en-GB" altLang="en-US" sz="5400" b="1"/>
          </a:p>
        </p:txBody>
      </p:sp>
      <p:sp>
        <p:nvSpPr>
          <p:cNvPr id="4" name="Text Box 3"/>
          <p:cNvSpPr txBox="1"/>
          <p:nvPr/>
        </p:nvSpPr>
        <p:spPr>
          <a:xfrm>
            <a:off x="1517650" y="4511675"/>
            <a:ext cx="1571625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143125" algn="l">
              <a:lnSpc>
                <a:spcPct val="100000"/>
              </a:lnSpc>
              <a:spcBef>
                <a:spcPts val="100"/>
              </a:spcBef>
            </a:pPr>
            <a:r>
              <a:rPr lang="en-IN" sz="5400" b="1" u="non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Module 2: Animal Behaviour Analysis</a:t>
            </a:r>
            <a:endParaRPr lang="en-IN" altLang="en-US" sz="5400" b="1" u="none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365250" y="6035675"/>
            <a:ext cx="1485836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143125" algn="l">
              <a:lnSpc>
                <a:spcPct val="100000"/>
              </a:lnSpc>
              <a:spcBef>
                <a:spcPts val="100"/>
              </a:spcBef>
            </a:pPr>
            <a:r>
              <a:rPr lang="en-IN" sz="5400" b="1" u="non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Module 3: Alert and Monitoring System</a:t>
            </a:r>
            <a:endParaRPr lang="en-IN" altLang="en-US" sz="5400" b="1" u="none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2450" y="396875"/>
            <a:ext cx="14148683" cy="1534795"/>
          </a:xfrm>
          <a:prstGeom prst="rect">
            <a:avLst/>
          </a:prstGeom>
        </p:spPr>
        <p:txBody>
          <a:bodyPr vert="horz" wrap="square" lIns="0" tIns="704804" rIns="0" bIns="0" rtlCol="0">
            <a:spAutoFit/>
          </a:bodyPr>
          <a:lstStyle/>
          <a:p>
            <a:pPr marL="1836420">
              <a:lnSpc>
                <a:spcPct val="100000"/>
              </a:lnSpc>
              <a:spcBef>
                <a:spcPts val="125"/>
              </a:spcBef>
            </a:pPr>
            <a:r>
              <a:rPr lang="en-IN" sz="5400" dirty="0"/>
              <a:t>MODULE</a:t>
            </a:r>
            <a:r>
              <a:rPr lang="en-IN" sz="5400" spc="-185" dirty="0"/>
              <a:t> </a:t>
            </a:r>
            <a:r>
              <a:rPr lang="en-IN" sz="5400" dirty="0"/>
              <a:t>1:  Animal Disease Detection</a:t>
            </a:r>
            <a:endParaRPr lang="en-IN"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831850" y="2073275"/>
            <a:ext cx="11207115" cy="831850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animal images and videos using cameras.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Preprocesses the captured images for better analysis.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Transformers (</a:t>
            </a: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animal images.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visible disease symptoms such as wounds, skin infections, swelling, or eye problems.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whether the animal is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diseased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the possible disease based on the detected symptoms.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early alerts when a disease is detected</a:t>
            </a:r>
            <a:r>
              <a:rPr lang="en-IN" sz="2400" dirty="0"/>
              <a:t>.</a:t>
            </a:r>
            <a:endParaRPr lang="en-IN" sz="24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pic>
        <p:nvPicPr>
          <p:cNvPr id="4" name="Picture 3" descr="ChatGPT Image Sep 3, 2026, 02_30_54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1690" y="2759075"/>
            <a:ext cx="7251700" cy="7084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7650" y="397053"/>
            <a:ext cx="15587980" cy="1146810"/>
          </a:xfrm>
          <a:prstGeom prst="rect">
            <a:avLst/>
          </a:prstGeom>
        </p:spPr>
        <p:txBody>
          <a:bodyPr vert="horz" wrap="square" lIns="0" tIns="316245" rIns="0" bIns="0" rtlCol="0">
            <a:spAutoFit/>
          </a:bodyPr>
          <a:lstStyle/>
          <a:p>
            <a:pPr marL="2143125" algn="l">
              <a:lnSpc>
                <a:spcPct val="100000"/>
              </a:lnSpc>
              <a:spcBef>
                <a:spcPts val="100"/>
              </a:spcBef>
            </a:pPr>
            <a:r>
              <a:rPr lang="en-IN" sz="5400" dirty="0"/>
              <a:t>Module 2: Animal Behaviour Analysis</a:t>
            </a:r>
            <a:endParaRPr lang="en-IN"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908050" y="1612265"/>
            <a:ext cx="10885170" cy="914908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animal movements using cameras.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Monitors daily activities such as walking, eating, drinking, and resting.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Transformers (</a:t>
            </a:r>
            <a:r>
              <a:rPr lang="en-IN" sz="3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animal behaviour.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unusual behaviours such as less movement, poor feeding, or abnormal posture.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current behaviour with normal behaviour patterns.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signs of stress, illness, or discomfort. Sends alerts when abnormal behaviour is detected.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8563" y="-3176"/>
            <a:ext cx="14605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Arial MT"/>
                <a:cs typeface="Arial MT"/>
              </a:rPr>
              <a:t>•.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pic>
        <p:nvPicPr>
          <p:cNvPr id="5" name="Picture 4" descr="ChatGPT Image Sep 3, 2026, 02_34_42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250" y="2073275"/>
            <a:ext cx="7603490" cy="77755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9304" y="483040"/>
            <a:ext cx="14944763" cy="1146810"/>
          </a:xfrm>
          <a:prstGeom prst="rect">
            <a:avLst/>
          </a:prstGeom>
        </p:spPr>
        <p:txBody>
          <a:bodyPr vert="horz" wrap="square" lIns="0" tIns="316245" rIns="0" bIns="0" rtlCol="0">
            <a:spAutoFit/>
          </a:bodyPr>
          <a:lstStyle/>
          <a:p>
            <a:pPr marL="2143125">
              <a:lnSpc>
                <a:spcPct val="100000"/>
              </a:lnSpc>
              <a:spcBef>
                <a:spcPts val="100"/>
              </a:spcBef>
            </a:pPr>
            <a:r>
              <a:rPr lang="en-IN" sz="5400" dirty="0"/>
              <a:t>Module 3: Alert and Monitoring System</a:t>
            </a:r>
            <a:endParaRPr lang="en-US" sz="5400" dirty="0"/>
          </a:p>
        </p:txBody>
      </p:sp>
      <p:sp>
        <p:nvSpPr>
          <p:cNvPr id="4" name="object 4"/>
          <p:cNvSpPr txBox="1"/>
          <p:nvPr/>
        </p:nvSpPr>
        <p:spPr>
          <a:xfrm>
            <a:off x="188563" y="-3176"/>
            <a:ext cx="14605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Arial MT"/>
                <a:cs typeface="Arial MT"/>
              </a:rPr>
              <a:t>•.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10" name="TextBox 9"/>
          <p:cNvSpPr txBox="1"/>
          <p:nvPr/>
        </p:nvSpPr>
        <p:spPr>
          <a:xfrm>
            <a:off x="603250" y="1844675"/>
            <a:ext cx="11617960" cy="9232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results from the disease detection and behaviour analysis modules.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the health status of animals continuously.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Sends instant alerts when a disease or abnormal behaviour is detected.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health reports and monitoring results on a dashboard.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farmers take quick action to treat sick animals.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animal health records for future reference.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disease spread through early warning.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decision-making with real-time monitoring.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ChatGPT Image Sep 3, 2026, 02_37_40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38050" y="3140075"/>
            <a:ext cx="7118985" cy="711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1420" y="244737"/>
            <a:ext cx="13225780" cy="1069340"/>
          </a:xfrm>
        </p:spPr>
        <p:txBody>
          <a:bodyPr/>
          <a:p>
            <a:pPr algn="ctr"/>
            <a:r>
              <a:rPr lang="en-IN" altLang="en-GB"/>
              <a:t>Output</a:t>
            </a:r>
            <a:endParaRPr lang="en-IN" alt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655" y="1550035"/>
            <a:ext cx="18201005" cy="8869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0020" y="92337"/>
            <a:ext cx="13225780" cy="1069340"/>
          </a:xfrm>
        </p:spPr>
        <p:txBody>
          <a:bodyPr/>
          <a:p>
            <a:pPr algn="ctr"/>
            <a:r>
              <a:rPr lang="en-IN" altLang="en-GB"/>
              <a:t>Output</a:t>
            </a:r>
            <a:endParaRPr lang="en-IN" alt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450" y="1809750"/>
            <a:ext cx="18233390" cy="84759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990525" y="10813610"/>
            <a:ext cx="126364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0" dirty="0">
                <a:latin typeface="Arial MT"/>
                <a:cs typeface="Arial MT"/>
              </a:rPr>
              <a:t>9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0450" y="2682875"/>
            <a:ext cx="18771236" cy="659328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SmartLivestock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intelligent solution for monitoring the health and behaviour of livestock.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Transformers (</a:t>
            </a: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animal diseases and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behaviour from images and videos.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helps identify diseases and unusual behaviour at an early stage.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alert system notifies farmers immediately, allowing timely treatment and better animal care. Early detection reduces animal losses, treatment costs, and the spread of diseases.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improves livestock health, farm productivity, and overall management.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50829" y="850960"/>
            <a:ext cx="540244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u="sng" dirty="0">
                <a:latin typeface="Times" panose="02020603050405020304" pitchFamily="18" charset="0"/>
                <a:cs typeface="Times" panose="02020603050405020304" pitchFamily="18" charset="0"/>
              </a:rPr>
              <a:t>CONCLUSION</a:t>
            </a:r>
            <a:endParaRPr lang="en-IN" sz="6000" b="1" u="sng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9020" y="397137"/>
            <a:ext cx="13225780" cy="1069340"/>
          </a:xfrm>
        </p:spPr>
        <p:txBody>
          <a:bodyPr/>
          <a:p>
            <a:pPr algn="ctr"/>
            <a:r>
              <a:rPr lang="en-IN" altLang="en-GB"/>
              <a:t>Future Scope</a:t>
            </a:r>
            <a:endParaRPr lang="en-IN" alt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0" y="3063875"/>
            <a:ext cx="13455650" cy="5170805"/>
          </a:xfrm>
        </p:spPr>
        <p:txBody>
          <a:bodyPr wrap="square"/>
          <a:p>
            <a:pPr marL="457200" indent="-4572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/>
              <a:t>Integration of thermal cameras for early detection of fever and inflammation.</a:t>
            </a:r>
            <a:endParaRPr lang="en-US" altLang="en-GB"/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/>
              <a:t>Real-time monitoring using drones and smart farm cameras.</a:t>
            </a:r>
            <a:endParaRPr lang="en-US" altLang="en-GB"/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/>
              <a:t>Development of mobile applications for instant farmer notifications.</a:t>
            </a:r>
            <a:endParaRPr lang="en-US" altLang="en-GB"/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/>
              <a:t>Support for more animals, breeds, diseases, and behaviour categories.</a:t>
            </a:r>
            <a:endParaRPr lang="en-US" altLang="en-GB"/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/>
              <a:t>Integration with wearable sensors for improved detection accuracy.</a:t>
            </a:r>
            <a:endParaRPr lang="en-US" altLang="en-GB"/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/>
              <a:t>Use of edge computing for faster analysis without constant internet access.</a:t>
            </a:r>
            <a:endParaRPr lang="en-US" altLang="en-GB"/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/>
              <a:t>Predictive analytics to identify health problems before visible symptoms appear.</a:t>
            </a:r>
            <a:endParaRPr lang="en-US" alt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6850" y="-136525"/>
            <a:ext cx="13225780" cy="1799802"/>
          </a:xfrm>
          <a:prstGeom prst="rect">
            <a:avLst/>
          </a:prstGeom>
        </p:spPr>
        <p:txBody>
          <a:bodyPr vert="horz" wrap="square" lIns="0" tIns="723216" rIns="0" bIns="0" rtlCol="0">
            <a:spAutoFit/>
          </a:bodyPr>
          <a:lstStyle/>
          <a:p>
            <a:pPr marL="4081780">
              <a:lnSpc>
                <a:spcPct val="100000"/>
              </a:lnSpc>
              <a:spcBef>
                <a:spcPts val="125"/>
              </a:spcBef>
            </a:pPr>
            <a:r>
              <a:rPr lang="en-IN" u="sng" spc="-10" dirty="0"/>
              <a:t>REFERENCES</a:t>
            </a:r>
            <a:endParaRPr lang="en-IN" u="sng"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593850" y="2682875"/>
            <a:ext cx="17870784" cy="6599692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600" dirty="0" err="1"/>
              <a:t>Dosovitskiy</a:t>
            </a:r>
            <a:r>
              <a:rPr lang="en-IN" sz="3600" dirty="0"/>
              <a:t>, A., et al. (2021). </a:t>
            </a:r>
            <a:r>
              <a:rPr lang="en-IN" sz="3600" i="1" dirty="0"/>
              <a:t>An Image is Worth 16×16 Words: Transformers for Image Recognition at Scale</a:t>
            </a:r>
            <a:r>
              <a:rPr lang="en-IN" sz="3600" dirty="0"/>
              <a:t>. International Conference on Learning Representations (ICLR). </a:t>
            </a:r>
            <a:endParaRPr lang="en-IN" sz="3600" dirty="0"/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600" dirty="0"/>
              <a:t>Vaswani, A., et al. (2017). </a:t>
            </a:r>
            <a:r>
              <a:rPr lang="en-IN" sz="3600" i="1" dirty="0"/>
              <a:t>Attention Is All You Need</a:t>
            </a:r>
            <a:r>
              <a:rPr lang="en-IN" sz="3600" dirty="0"/>
              <a:t>. Advances in Neural Information Processing Systems (</a:t>
            </a:r>
            <a:r>
              <a:rPr lang="en-IN" sz="3600" dirty="0" err="1"/>
              <a:t>NeurIPS</a:t>
            </a:r>
            <a:r>
              <a:rPr lang="en-IN" sz="3600" dirty="0"/>
              <a:t>). Goodfellow, I., Bengio, Y., &amp; Courville, A. (2016). </a:t>
            </a:r>
            <a:endParaRPr lang="en-IN" sz="3600" dirty="0"/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600" i="1" dirty="0"/>
              <a:t>Deep Learning</a:t>
            </a:r>
            <a:r>
              <a:rPr lang="en-IN" sz="3600" dirty="0"/>
              <a:t>. MIT Press. Russell, S., &amp; Norvig, P. (2021). </a:t>
            </a:r>
            <a:r>
              <a:rPr lang="en-IN" sz="3600" i="1" dirty="0"/>
              <a:t>Artificial Intelligence: A Modern Approach</a:t>
            </a:r>
            <a:r>
              <a:rPr lang="en-IN" sz="3600" dirty="0"/>
              <a:t> (4th Edition). Pearson. Zhang, Z., et al. (2023). </a:t>
            </a:r>
            <a:endParaRPr lang="en-IN" sz="3600" dirty="0"/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600" i="1" dirty="0"/>
              <a:t>Deep Learning-Based Animal Disease Detection Using Computer Vision: A Review</a:t>
            </a:r>
            <a:r>
              <a:rPr lang="en-IN" sz="3600" dirty="0"/>
              <a:t>. Computers and Electronics in Agriculture.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8083" y="10813610"/>
            <a:ext cx="23495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Arial MT"/>
                <a:cs typeface="Arial MT"/>
              </a:rPr>
              <a:t>12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4850" y="1539875"/>
            <a:ext cx="15462251" cy="86868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336*584"/>
  <p:tag name="TABLE_ENDDRAG_RECT" val="107*173*1336*58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6686</Words>
  <Application>WPS Presentation</Application>
  <PresentationFormat>Custom</PresentationFormat>
  <Paragraphs>216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SimSun</vt:lpstr>
      <vt:lpstr>Wingdings</vt:lpstr>
      <vt:lpstr>Times New Roman</vt:lpstr>
      <vt:lpstr>Arial MT</vt:lpstr>
      <vt:lpstr>Times New Roman</vt:lpstr>
      <vt:lpstr>Helvetica Neue</vt:lpstr>
      <vt:lpstr>TIMES NEW ROAN</vt:lpstr>
      <vt:lpstr>Segoe Print</vt:lpstr>
      <vt:lpstr> TIMES NEW ROAN</vt:lpstr>
      <vt:lpstr>Times</vt:lpstr>
      <vt:lpstr>Wingdings</vt:lpstr>
      <vt:lpstr>Microsoft YaHei</vt:lpstr>
      <vt:lpstr>Arial Unicode MS</vt:lpstr>
      <vt:lpstr>Calibri</vt:lpstr>
      <vt:lpstr>Office Theme</vt:lpstr>
      <vt:lpstr>   DSA0204 –Computer Vision With OpenCV  SmartLivestock AI: Automated Animal Disease Detection and Behaviour Analysis Using Vision Transformers   </vt:lpstr>
      <vt:lpstr>ABSTRACT</vt:lpstr>
      <vt:lpstr>INTRODUCTION</vt:lpstr>
      <vt:lpstr>OBJECTIVES</vt:lpstr>
      <vt:lpstr>LITERATURE SURVEY</vt:lpstr>
      <vt:lpstr>PROBLEM STATEMENT</vt:lpstr>
      <vt:lpstr>System Archeiture</vt:lpstr>
      <vt:lpstr>List Of Modules</vt:lpstr>
      <vt:lpstr>MODULE 1:  Animal Disease Detection</vt:lpstr>
      <vt:lpstr>Module 2: Animal Behaviour Analysis</vt:lpstr>
      <vt:lpstr>Module 3: Alert and Monitoring System</vt:lpstr>
      <vt:lpstr>Output</vt:lpstr>
      <vt:lpstr>Output</vt:lpstr>
      <vt:lpstr>PowerPoint 演示文稿</vt:lpstr>
      <vt:lpstr>PowerPoint 演示文稿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Nani Singamsetti</cp:lastModifiedBy>
  <cp:revision>20</cp:revision>
  <dcterms:created xsi:type="dcterms:W3CDTF">2025-12-31T02:46:00Z</dcterms:created>
  <dcterms:modified xsi:type="dcterms:W3CDTF">2026-09-03T14:27:00Z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2025-12-26T11:00:00Z</vt:filetime>
  </property>
  <property fmtid="{D5CDD505-2E9C-101B-9397-08002B2CF9AE}" pid="3" name="LastSaved">
    <vt:filetime>2025-12-31T11:00:00Z</vt:filetime>
  </property>
  <property fmtid="{D5CDD505-2E9C-101B-9397-08002B2CF9AE}" pid="4" name="ICV">
    <vt:lpwstr>61D0B4DF9B2A46388FB8A086082AF62E_13</vt:lpwstr>
  </property>
  <property fmtid="{D5CDD505-2E9C-101B-9397-08002B2CF9AE}" pid="5" name="KSOProductBuildVer">
    <vt:lpwstr>2057-12.2.0.23206</vt:lpwstr>
  </property>
</Properties>
</file>